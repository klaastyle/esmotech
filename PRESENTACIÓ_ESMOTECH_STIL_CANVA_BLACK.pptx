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detallen els serveis d’afilat que ofereix l’empresa, amb èmfasi en les necessitats específiques del sector alimentari. Es fa èmfasi en la importància d’una eina tallant precisa per garantir l’eficiència i la seguretat, i s’explica com el servei pot ser personalitzat segons les demandes dels clients professionals.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Aquesta subapartat mostra els diferents tipus d’eines de tall que es venen, com ganivets, fulles especials i accessoris. També es posen en valor les innovacions tecnològiques aplicades als productes i com aquestes ajuden a millorar la productivitat i la seguretat dins de la indústria alimentària.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4.jpg"/><Relationship Id="rId4" Type="http://schemas.openxmlformats.org/officeDocument/2006/relationships/image" Target="../media/image3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talog_img_1_page_1_img_1_1806x215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0"/>
            <a:ext cx="7616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6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esmote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411480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6576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9A84C"/>
                </a:solidFill>
                <a:latin typeface="Barlow Condensed"/>
              </a:defRPr>
            </a:pPr>
            <a:r>
              <a:t>TECNOLOGIA · PRECISIÓ · QUALITAT</a:t>
            </a:r>
          </a:p>
          <a:p>
            <a:pPr>
              <a:spcBef>
                <a:spcPts val="800"/>
              </a:spcBef>
              <a:defRPr sz="1200">
                <a:solidFill>
                  <a:srgbClr val="8C9BAA"/>
                </a:solidFill>
                <a:latin typeface="Inter"/>
              </a:defRPr>
            </a:pPr>
            <a:r>
              <a:t>ESTIL 1: CANVA BLACK WITH PHOTO BACKGROUND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20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ESMOTECH2026 SL  |  ESTIL CANVA BLACK — FOTOS DARRERE DEL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C9A84C"/>
                </a:solidFill>
                <a:latin typeface="Barlow Condensed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560320" cy="320040"/>
          </a:xfrm>
          <a:prstGeom prst="roundRect">
            <a:avLst/>
          </a:prstGeom>
          <a:solidFill>
            <a:srgbClr val="12161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C9A84C"/>
                </a:solidFill>
                <a:latin typeface="Barlow Condensed"/>
              </a:defRPr>
            </a:pPr>
            <a:r>
              <a:t>[ PRESENTACIÓ EMPRESA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Barlow Condensed"/>
              </a:defRPr>
            </a:pPr>
            <a:r>
              <a:t>QUI SOM  ·  QUE FEM  ·  COM HO FEM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4297680"/>
          </a:xfrm>
          <a:prstGeom prst="roundRect">
            <a:avLst/>
          </a:prstGeom>
          <a:solidFill>
            <a:srgbClr val="0E1118"/>
          </a:solidFill>
          <a:ln w="19050">
            <a:solidFill>
              <a:srgbClr val="20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9A84C"/>
                </a:solidFill>
                <a:latin typeface="Barlow Condensed"/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2000" b="1">
                <a:solidFill>
                  <a:srgbClr val="F5F7FA"/>
                </a:solidFill>
                <a:latin typeface="Barlow Condensed"/>
              </a:defRPr>
            </a:pPr>
            <a:r>
              <a:t>QUI SOM</a:t>
            </a:r>
          </a:p>
          <a:p>
            <a:pPr>
              <a:spcBef>
                <a:spcPts val="1200"/>
              </a:spcBef>
              <a:defRPr sz="1150">
                <a:solidFill>
                  <a:srgbClr val="8C9BAA"/>
                </a:solidFill>
                <a:latin typeface="Inter"/>
              </a:defRPr>
            </a:pPr>
            <a:r>
              <a:t>Empresa de nova creació amb una dilatada experiència en el sector alimentari, la qual cosa ens permet ser una garantia per als nostres clients.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2544" y="1463040"/>
            <a:ext cx="3474720" cy="4297680"/>
          </a:xfrm>
          <a:prstGeom prst="roundRect">
            <a:avLst/>
          </a:prstGeom>
          <a:solidFill>
            <a:srgbClr val="0E1118"/>
          </a:solidFill>
          <a:ln w="19050">
            <a:solidFill>
              <a:srgbClr val="20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35424" y="164592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9A84C"/>
                </a:solidFill>
                <a:latin typeface="Barlow Condensed"/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2000" b="1">
                <a:solidFill>
                  <a:srgbClr val="F5F7FA"/>
                </a:solidFill>
                <a:latin typeface="Barlow Condensed"/>
              </a:defRPr>
            </a:pPr>
            <a:r>
              <a:t>QUÈ FEM</a:t>
            </a:r>
          </a:p>
          <a:p>
            <a:pPr>
              <a:spcBef>
                <a:spcPts val="1200"/>
              </a:spcBef>
              <a:defRPr sz="1150">
                <a:solidFill>
                  <a:srgbClr val="8C9BAA"/>
                </a:solidFill>
                <a:latin typeface="Inter"/>
              </a:defRPr>
            </a:pPr>
            <a:r>
              <a:t>Oferim un servei tècnic especialitzat i el subministrament d'eines de tall industrials de màxim rendiment.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5592" y="1463040"/>
            <a:ext cx="3474720" cy="4297680"/>
          </a:xfrm>
          <a:prstGeom prst="roundRect">
            <a:avLst/>
          </a:prstGeom>
          <a:solidFill>
            <a:srgbClr val="0E1118"/>
          </a:solidFill>
          <a:ln w="19050">
            <a:solidFill>
              <a:srgbClr val="20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64592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9A84C"/>
                </a:solidFill>
                <a:latin typeface="Barlow Condensed"/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2000" b="1">
                <a:solidFill>
                  <a:srgbClr val="F5F7FA"/>
                </a:solidFill>
                <a:latin typeface="Barlow Condensed"/>
              </a:defRPr>
            </a:pPr>
            <a:r>
              <a:t>COM HO FEM</a:t>
            </a:r>
          </a:p>
          <a:p>
            <a:pPr>
              <a:spcBef>
                <a:spcPts val="1200"/>
              </a:spcBef>
              <a:defRPr sz="1150">
                <a:solidFill>
                  <a:srgbClr val="8C9BAA"/>
                </a:solidFill>
                <a:latin typeface="Inter"/>
              </a:defRPr>
            </a:pPr>
            <a:r>
              <a:t>Garantim la qualitat de materials i angles de tall originals per evitar temps d'aturada.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20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ESMOTECH2026 SL  |  ESTIL CANVA BLACK — FOTOS DARRERE DEL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C9A84C"/>
                </a:solidFill>
                <a:latin typeface="Barlow Condensed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talog_img_1_page_1_img_1_1806x215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0"/>
            <a:ext cx="688543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06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06440" y="0"/>
            <a:ext cx="7315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65760"/>
            <a:ext cx="2560320" cy="320040"/>
          </a:xfrm>
          <a:prstGeom prst="roundRect">
            <a:avLst/>
          </a:prstGeom>
          <a:solidFill>
            <a:srgbClr val="12161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C9A84C"/>
                </a:solidFill>
                <a:latin typeface="Barlow Condensed"/>
              </a:defRPr>
            </a:pPr>
            <a:r>
              <a:t>[ SERVEI TÈCNIC CNC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Barlow Condensed"/>
              </a:defRPr>
            </a:pPr>
            <a:r>
              <a:t>SERVEIS D'ESMOLATS ESPECIALITZATS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01.  SERVEIS D'ESMOLATS ESPECIALITZATS</a:t>
            </a:r>
          </a:p>
          <a:p>
            <a:pPr>
              <a:spcBef>
                <a:spcPts val="400"/>
              </a:spcBef>
              <a:defRPr sz="1100">
                <a:solidFill>
                  <a:srgbClr val="F5F7FA"/>
                </a:solidFill>
                <a:latin typeface="Inter"/>
              </a:defRPr>
            </a:pPr>
            <a:r>
              <a:t>Oferim serveis d'esmolat pensats per donar resposta a les necessitats tècniques del sector alimentari, assegurant precisió i rendiment.</a:t>
            </a:r>
          </a:p>
          <a:p>
            <a:pPr>
              <a:spcBef>
                <a:spcPts val="1400"/>
              </a:spcBef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02.  IMPORTÀNCIA DE LA PRECISIÓ</a:t>
            </a:r>
          </a:p>
          <a:p>
            <a:pPr>
              <a:spcBef>
                <a:spcPts val="400"/>
              </a:spcBef>
              <a:defRPr sz="1100">
                <a:solidFill>
                  <a:srgbClr val="F5F7FA"/>
                </a:solidFill>
                <a:latin typeface="Inter"/>
              </a:defRPr>
            </a:pPr>
            <a:r>
              <a:t>Una eina ben esmolada és essencial per garantir eficiència, seguretat i regularitat en totes les operacions de tall.</a:t>
            </a:r>
          </a:p>
          <a:p>
            <a:pPr>
              <a:spcBef>
                <a:spcPts val="1400"/>
              </a:spcBef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03.  PERSONALITZACIÓ DEL SERVEI</a:t>
            </a:r>
          </a:p>
          <a:p>
            <a:pPr>
              <a:spcBef>
                <a:spcPts val="400"/>
              </a:spcBef>
              <a:defRPr sz="1100">
                <a:solidFill>
                  <a:srgbClr val="F5F7FA"/>
                </a:solidFill>
                <a:latin typeface="Inter"/>
              </a:defRPr>
            </a:pPr>
            <a:r>
              <a:t>Adaptem els nostres esmolats a les necessitats específiques de cada client, optimitzant durabilitat i producció.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20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ESMOTECH2026 SL  |  ESTIL CANVA BLACK — FOTOS DARRERE DEL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C9A84C"/>
                </a:solidFill>
                <a:latin typeface="Barlow Condensed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talog_img_2_page_2_img_1_1245x104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0"/>
            <a:ext cx="688543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06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06440" y="0"/>
            <a:ext cx="7315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65760"/>
            <a:ext cx="2560320" cy="320040"/>
          </a:xfrm>
          <a:prstGeom prst="roundRect">
            <a:avLst/>
          </a:prstGeom>
          <a:solidFill>
            <a:srgbClr val="12161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C9A84C"/>
                </a:solidFill>
                <a:latin typeface="Barlow Condensed"/>
              </a:defRPr>
            </a:pPr>
            <a:r>
              <a:t>[ REAFILAT MULTIMARCA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Barlow Condensed"/>
              </a:defRPr>
            </a:pPr>
            <a:r>
              <a:t>ESMOLEM I RECTIFIQUEM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01.  GANIVETS I TISORES</a:t>
            </a:r>
          </a:p>
          <a:p>
            <a:pPr>
              <a:spcBef>
                <a:spcPts val="400"/>
              </a:spcBef>
              <a:defRPr sz="1100">
                <a:solidFill>
                  <a:srgbClr val="F5F7FA"/>
                </a:solidFill>
                <a:latin typeface="Inter"/>
              </a:defRPr>
            </a:pPr>
            <a:r>
              <a:t>Reafilat homogeni de ganiveteria manual i tisores de processat.</a:t>
            </a:r>
          </a:p>
          <a:p>
            <a:pPr>
              <a:spcBef>
                <a:spcPts val="1400"/>
              </a:spcBef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02.  PLAQUES I CUTTERS</a:t>
            </a:r>
          </a:p>
          <a:p>
            <a:pPr>
              <a:spcBef>
                <a:spcPts val="400"/>
              </a:spcBef>
              <a:defRPr sz="1100">
                <a:solidFill>
                  <a:srgbClr val="F5F7FA"/>
                </a:solidFill>
                <a:latin typeface="Inter"/>
              </a:defRPr>
            </a:pPr>
            <a:r>
              <a:t>Rectificat de plaques de picadora i ganivetes de cutter en acer D2.</a:t>
            </a:r>
          </a:p>
          <a:p>
            <a:pPr>
              <a:spcBef>
                <a:spcPts val="1400"/>
              </a:spcBef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03.  LLESCADORES I SERRES</a:t>
            </a:r>
          </a:p>
          <a:p>
            <a:pPr>
              <a:spcBef>
                <a:spcPts val="400"/>
              </a:spcBef>
              <a:defRPr sz="1100">
                <a:solidFill>
                  <a:srgbClr val="F5F7FA"/>
                </a:solidFill>
                <a:latin typeface="Inter"/>
              </a:defRPr>
            </a:pPr>
            <a:r>
              <a:t>Esmolat d'alta precisió per a llescadores slicer i discs circulars.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20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ESMOTECH2026 SL  |  ESTIL CANVA BLACK — FOTOS DARRERE DEL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C9A84C"/>
                </a:solidFill>
                <a:latin typeface="Barlow Condensed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talog_img_14_page_5_img_1_1230x84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0"/>
            <a:ext cx="688543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06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06440" y="0"/>
            <a:ext cx="7315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65760"/>
            <a:ext cx="2560320" cy="320040"/>
          </a:xfrm>
          <a:prstGeom prst="roundRect">
            <a:avLst/>
          </a:prstGeom>
          <a:solidFill>
            <a:srgbClr val="12161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C9A84C"/>
                </a:solidFill>
                <a:latin typeface="Barlow Condensed"/>
              </a:defRPr>
            </a:pPr>
            <a:r>
              <a:t>[ EQUIPAMENT INDUSTRIAL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Barlow Condensed"/>
              </a:defRPr>
            </a:pPr>
            <a:r>
              <a:t>GAMMA DE PRODUCTES DE TALL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01.  TIPUS D'EINES DE TALL</a:t>
            </a:r>
          </a:p>
          <a:p>
            <a:pPr>
              <a:spcBef>
                <a:spcPts val="400"/>
              </a:spcBef>
              <a:defRPr sz="1100">
                <a:solidFill>
                  <a:srgbClr val="F5F7FA"/>
                </a:solidFill>
                <a:latin typeface="Inter"/>
              </a:defRPr>
            </a:pPr>
            <a:r>
              <a:t>Ganivetes i accessoris dissenyats per cobrir totes les necessitats de tall alimentari.</a:t>
            </a:r>
          </a:p>
          <a:p>
            <a:pPr>
              <a:spcBef>
                <a:spcPts val="1400"/>
              </a:spcBef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02.  INNOVACIONS TECNOLÒGIQUES</a:t>
            </a:r>
          </a:p>
          <a:p>
            <a:pPr>
              <a:spcBef>
                <a:spcPts val="400"/>
              </a:spcBef>
              <a:defRPr sz="1100">
                <a:solidFill>
                  <a:srgbClr val="F5F7FA"/>
                </a:solidFill>
                <a:latin typeface="Inter"/>
              </a:defRPr>
            </a:pPr>
            <a:r>
              <a:t>Tecnologia aplicada per augmentar la productivitat de la línia i seguretat.</a:t>
            </a:r>
          </a:p>
          <a:p>
            <a:pPr>
              <a:spcBef>
                <a:spcPts val="1400"/>
              </a:spcBef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03.  MILLORA DE PRODUCTIVITAT</a:t>
            </a:r>
          </a:p>
          <a:p>
            <a:pPr>
              <a:spcBef>
                <a:spcPts val="400"/>
              </a:spcBef>
              <a:defRPr sz="1100">
                <a:solidFill>
                  <a:srgbClr val="F5F7FA"/>
                </a:solidFill>
                <a:latin typeface="Inter"/>
              </a:defRPr>
            </a:pPr>
            <a:r>
              <a:t>Solucions que redueixen riscos en la manipulació i aporten tall silenciós.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20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ESMOTECH2026 SL  |  ESTIL CANVA BLACK — FOTOS DARRERE DEL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C9A84C"/>
                </a:solidFill>
                <a:latin typeface="Barlow Condensed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talog_img_1_page_1_img_1_1217x117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0"/>
            <a:ext cx="688543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06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06440" y="0"/>
            <a:ext cx="7315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65760"/>
            <a:ext cx="2560320" cy="320040"/>
          </a:xfrm>
          <a:prstGeom prst="roundRect">
            <a:avLst/>
          </a:prstGeom>
          <a:solidFill>
            <a:srgbClr val="12161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C9A84C"/>
                </a:solidFill>
                <a:latin typeface="Barlow Condensed"/>
              </a:defRPr>
            </a:pPr>
            <a:r>
              <a:t>[ FABRICACIÓ A MIDA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Barlow Condensed"/>
              </a:defRPr>
            </a:pPr>
            <a:r>
              <a:t>PRODUCCIÓ I SUBMINISTRAMENT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01.  SERRA CINTA I SKINNING</a:t>
            </a:r>
          </a:p>
          <a:p>
            <a:pPr>
              <a:spcBef>
                <a:spcPts val="400"/>
              </a:spcBef>
              <a:defRPr sz="1100">
                <a:solidFill>
                  <a:srgbClr val="F5F7FA"/>
                </a:solidFill>
                <a:latin typeface="Inter"/>
              </a:defRPr>
            </a:pPr>
            <a:r>
              <a:t>Subministrament de fulles de serra cinta i ganivetes descotnar.</a:t>
            </a:r>
          </a:p>
          <a:p>
            <a:pPr>
              <a:spcBef>
                <a:spcPts val="1400"/>
              </a:spcBef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02.  DISCS I CULANES</a:t>
            </a:r>
          </a:p>
          <a:p>
            <a:pPr>
              <a:spcBef>
                <a:spcPts val="400"/>
              </a:spcBef>
              <a:defRPr sz="1100">
                <a:solidFill>
                  <a:srgbClr val="F5F7FA"/>
                </a:solidFill>
                <a:latin typeface="Inter"/>
              </a:defRPr>
            </a:pPr>
            <a:r>
              <a:t>Discs circulars, microdentats i eines especials d'envasat.</a:t>
            </a:r>
          </a:p>
          <a:p>
            <a:pPr>
              <a:spcBef>
                <a:spcPts val="1400"/>
              </a:spcBef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03.  FABRICACIÓ SEGONS PLÀNOL</a:t>
            </a:r>
          </a:p>
          <a:p>
            <a:pPr>
              <a:spcBef>
                <a:spcPts val="400"/>
              </a:spcBef>
              <a:defRPr sz="1100">
                <a:solidFill>
                  <a:srgbClr val="F5F7FA"/>
                </a:solidFill>
                <a:latin typeface="Inter"/>
              </a:defRPr>
            </a:pPr>
            <a:r>
              <a:t>Podem fabricar segons plànol CAD o mostra física del client.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20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ESMOTECH2026 SL  |  ESTIL CANVA BLACK — FOTOS DARRERE DEL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C9A84C"/>
                </a:solidFill>
                <a:latin typeface="Barlow Condensed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560320" cy="320040"/>
          </a:xfrm>
          <a:prstGeom prst="roundRect">
            <a:avLst/>
          </a:prstGeom>
          <a:solidFill>
            <a:srgbClr val="12161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C9A84C"/>
                </a:solidFill>
                <a:latin typeface="Barlow Condensed"/>
              </a:defRPr>
            </a:pPr>
            <a:r>
              <a:t>[ TALLER CNC PROPI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Barlow Condensed"/>
              </a:defRPr>
            </a:pPr>
            <a:r>
              <a:t>TECNOLOGIA I INSTAL·LACIONS DEL CENTRE D'ESMOLAT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4297680"/>
          </a:xfrm>
          <a:prstGeom prst="roundRect">
            <a:avLst/>
          </a:prstGeom>
          <a:solidFill>
            <a:srgbClr val="0E1118"/>
          </a:solidFill>
          <a:ln w="19050">
            <a:solidFill>
              <a:srgbClr val="20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ex_s7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329184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9319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9A84C"/>
                </a:solidFill>
                <a:latin typeface="Barlow Condensed"/>
              </a:defRPr>
            </a:pPr>
            <a:r>
              <a:t>EQUIPAMENT TALLER 01</a:t>
            </a:r>
          </a:p>
          <a:p>
            <a:pPr>
              <a:spcBef>
                <a:spcPts val="400"/>
              </a:spcBef>
              <a:defRPr sz="1050">
                <a:solidFill>
                  <a:srgbClr val="F5F7FA"/>
                </a:solidFill>
                <a:latin typeface="Inter"/>
              </a:defRPr>
            </a:pPr>
            <a:r>
              <a:t>Cicles automatitzats de reafilat d'eines que mantenen els angles exactes de fàbrica.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463040"/>
            <a:ext cx="3474720" cy="4297680"/>
          </a:xfrm>
          <a:prstGeom prst="roundRect">
            <a:avLst/>
          </a:prstGeom>
          <a:solidFill>
            <a:srgbClr val="0E1118"/>
          </a:solidFill>
          <a:ln w="19050">
            <a:solidFill>
              <a:srgbClr val="20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mp_ex_s7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1554480"/>
            <a:ext cx="329184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89704" y="39319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9A84C"/>
                </a:solidFill>
                <a:latin typeface="Barlow Condensed"/>
              </a:defRPr>
            </a:pPr>
            <a:r>
              <a:t>EQUIPAMENT TALLER 02</a:t>
            </a:r>
          </a:p>
          <a:p>
            <a:pPr>
              <a:spcBef>
                <a:spcPts val="400"/>
              </a:spcBef>
              <a:defRPr sz="1050">
                <a:solidFill>
                  <a:srgbClr val="F5F7FA"/>
                </a:solidFill>
                <a:latin typeface="Inter"/>
              </a:defRPr>
            </a:pPr>
            <a:r>
              <a:t>Cicles automatitzats de reafilat d'eines que mantenen els angles exactes de fàbrica.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5592" y="1463040"/>
            <a:ext cx="3474720" cy="4297680"/>
          </a:xfrm>
          <a:prstGeom prst="roundRect">
            <a:avLst/>
          </a:prstGeom>
          <a:solidFill>
            <a:srgbClr val="0E1118"/>
          </a:solidFill>
          <a:ln w="19050">
            <a:solidFill>
              <a:srgbClr val="20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emp_ex_s7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1554480"/>
            <a:ext cx="3291840" cy="228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02752" y="39319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9A84C"/>
                </a:solidFill>
                <a:latin typeface="Barlow Condensed"/>
              </a:defRPr>
            </a:pPr>
            <a:r>
              <a:t>EQUIPAMENT TALLER 03</a:t>
            </a:r>
          </a:p>
          <a:p>
            <a:pPr>
              <a:spcBef>
                <a:spcPts val="400"/>
              </a:spcBef>
              <a:defRPr sz="1050">
                <a:solidFill>
                  <a:srgbClr val="F5F7FA"/>
                </a:solidFill>
                <a:latin typeface="Inter"/>
              </a:defRPr>
            </a:pPr>
            <a:r>
              <a:t>Cicles automatitzats de reafilat d'eines que mantenen els angles exactes de fàbrica.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20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ESMOTECH2026 SL  |  ESTIL CANVA BLACK — FOTOS DARRERE DEL 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C9A84C"/>
                </a:solidFill>
                <a:latin typeface="Barlow Condensed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560320" cy="320040"/>
          </a:xfrm>
          <a:prstGeom prst="roundRect">
            <a:avLst/>
          </a:prstGeom>
          <a:solidFill>
            <a:srgbClr val="12161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C9A84C"/>
                </a:solidFill>
                <a:latin typeface="Barlow Condensed"/>
              </a:defRPr>
            </a:pPr>
            <a:r>
              <a:t>[ PARTNER ALEMANYA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Barlow Condensed"/>
              </a:defRPr>
            </a:pPr>
            <a:r>
              <a:t>DISTRIBUIDOR OFICIAL: HAGEDORN FOODTECH</a:t>
            </a:r>
          </a:p>
        </p:txBody>
      </p:sp>
      <p:pic>
        <p:nvPicPr>
          <p:cNvPr id="4" name="Picture 3" descr="catalog_img_4_page_3_img_2_1245x9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06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0"/>
              </a:spcBef>
              <a:defRPr sz="1800" b="1">
                <a:solidFill>
                  <a:srgbClr val="C9A84C"/>
                </a:solidFill>
                <a:latin typeface="Barlow Condensed"/>
              </a:defRPr>
            </a:pPr>
            <a:r>
              <a:t>HAGEDORN FOODTECH GERMANY</a:t>
            </a:r>
          </a:p>
          <a:p>
            <a:pPr>
              <a:spcBef>
                <a:spcPts val="800"/>
              </a:spcBef>
              <a:defRPr sz="1150">
                <a:solidFill>
                  <a:srgbClr val="F5F7FA"/>
                </a:solidFill>
                <a:latin typeface="Inter"/>
              </a:defRPr>
            </a:pPr>
            <a:r>
              <a:t>Especialista líder en eines de tall per a la indústria alimentària. Les seves ganivetes circulars i evolutives ofereixen un alt rendiment i vida útil superior.</a:t>
            </a:r>
          </a:p>
          <a:p>
            <a:pPr>
              <a:spcBef>
                <a:spcPts val="1600"/>
              </a:spcBef>
              <a:defRPr sz="1400" b="1">
                <a:solidFill>
                  <a:srgbClr val="C9A84C"/>
                </a:solidFill>
                <a:latin typeface="Barlow Condensed"/>
              </a:defRPr>
            </a:pPr>
            <a:r>
              <a:t>🇩🇪  MADE IN GERMANY — TRITECH / LONGLIFE / GENESIS</a:t>
            </a:r>
          </a:p>
        </p:txBody>
      </p:sp>
      <p:pic>
        <p:nvPicPr>
          <p:cNvPr id="7" name="Picture 6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3200400" cy="731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20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ESMOTECH2026 SL  |  ESTIL CANVA BLACK — FOTOS DARRERE DEL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C9A84C"/>
                </a:solidFill>
                <a:latin typeface="Barlow Condensed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560320" cy="320040"/>
          </a:xfrm>
          <a:prstGeom prst="roundRect">
            <a:avLst/>
          </a:prstGeom>
          <a:solidFill>
            <a:srgbClr val="12161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C9A84C"/>
                </a:solidFill>
                <a:latin typeface="Barlow Condensed"/>
              </a:defRPr>
            </a:pPr>
            <a:r>
              <a:t>[ CATÀLEG VISUAL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Barlow Condensed"/>
              </a:defRPr>
            </a:pPr>
            <a:r>
              <a:t>ALTRES PRODUCTES I CONSUMIBLES DE TALL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2103120"/>
          </a:xfrm>
          <a:prstGeom prst="roundRect">
            <a:avLst/>
          </a:prstGeom>
          <a:solidFill>
            <a:srgbClr val="0E1118"/>
          </a:solidFill>
          <a:ln w="19050">
            <a:solidFill>
              <a:srgbClr val="20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ge_1_img_1_1288x85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33832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1508760"/>
            <a:ext cx="3383280" cy="2011680"/>
          </a:xfrm>
          <a:prstGeom prst="roundRect">
            <a:avLst/>
          </a:prstGeom>
          <a:solidFill>
            <a:srgbClr val="06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CAPÇALS TÈRMICS</a:t>
            </a:r>
          </a:p>
          <a:p>
            <a:pPr>
              <a:spcBef>
                <a:spcPts val="400"/>
              </a:spcBef>
              <a:defRPr sz="1050">
                <a:solidFill>
                  <a:srgbClr val="F5F7FA"/>
                </a:solidFill>
                <a:latin typeface="Inter"/>
              </a:defRPr>
            </a:pPr>
            <a:r>
              <a:t>Capçals Bizerba, Zebra i Honeywell.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463040"/>
            <a:ext cx="3474720" cy="2103120"/>
          </a:xfrm>
          <a:prstGeom prst="roundRect">
            <a:avLst/>
          </a:prstGeom>
          <a:solidFill>
            <a:srgbClr val="0E1118"/>
          </a:solidFill>
          <a:ln w="19050">
            <a:solidFill>
              <a:srgbClr val="20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talog_img_14_page_5_img_1_1230x84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1508760"/>
            <a:ext cx="3383280" cy="2011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398264" y="1508760"/>
            <a:ext cx="3383280" cy="2011680"/>
          </a:xfrm>
          <a:prstGeom prst="roundRect">
            <a:avLst/>
          </a:prstGeom>
          <a:solidFill>
            <a:srgbClr val="06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64592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SERRES CINTA</a:t>
            </a:r>
          </a:p>
          <a:p>
            <a:pPr>
              <a:spcBef>
                <a:spcPts val="400"/>
              </a:spcBef>
              <a:defRPr sz="1050">
                <a:solidFill>
                  <a:srgbClr val="F5F7FA"/>
                </a:solidFill>
                <a:latin typeface="Inter"/>
              </a:defRPr>
            </a:pPr>
            <a:r>
              <a:t>Fulles serra cinta carn i 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1463040"/>
            <a:ext cx="3474720" cy="2103120"/>
          </a:xfrm>
          <a:prstGeom prst="roundRect">
            <a:avLst/>
          </a:prstGeom>
          <a:solidFill>
            <a:srgbClr val="0E1118"/>
          </a:solidFill>
          <a:ln w="19050">
            <a:solidFill>
              <a:srgbClr val="20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atalog_img_2_page_2_img_1_1245x1045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2" y="1508760"/>
            <a:ext cx="3383280" cy="20116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211312" y="1508760"/>
            <a:ext cx="3383280" cy="2011680"/>
          </a:xfrm>
          <a:prstGeom prst="roundRect">
            <a:avLst/>
          </a:prstGeom>
          <a:solidFill>
            <a:srgbClr val="06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164592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RECANVIS WIZZARD</a:t>
            </a:r>
          </a:p>
          <a:p>
            <a:pPr>
              <a:spcBef>
                <a:spcPts val="400"/>
              </a:spcBef>
              <a:defRPr sz="1050">
                <a:solidFill>
                  <a:srgbClr val="F5F7FA"/>
                </a:solidFill>
                <a:latin typeface="Inter"/>
              </a:defRPr>
            </a:pPr>
            <a:r>
              <a:t>Consumibles Wizzard i Ibex.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49039"/>
            <a:ext cx="3474720" cy="2103120"/>
          </a:xfrm>
          <a:prstGeom prst="roundRect">
            <a:avLst/>
          </a:prstGeom>
          <a:solidFill>
            <a:srgbClr val="0E1118"/>
          </a:solidFill>
          <a:ln w="19050">
            <a:solidFill>
              <a:srgbClr val="20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talog_img_13_page_2_img_8_507x366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794759"/>
            <a:ext cx="3383280" cy="20116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94360" y="3794759"/>
            <a:ext cx="3383280" cy="2011680"/>
          </a:xfrm>
          <a:prstGeom prst="roundRect">
            <a:avLst/>
          </a:prstGeom>
          <a:solidFill>
            <a:srgbClr val="06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31919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GANIVETES TERMOFORMAT</a:t>
            </a:r>
          </a:p>
          <a:p>
            <a:pPr>
              <a:spcBef>
                <a:spcPts val="400"/>
              </a:spcBef>
              <a:defRPr sz="1050">
                <a:solidFill>
                  <a:srgbClr val="F5F7FA"/>
                </a:solidFill>
                <a:latin typeface="Inter"/>
              </a:defRPr>
            </a:pPr>
            <a:r>
              <a:t>Dissenys Zhaoli i Multivac.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2544" y="3749039"/>
            <a:ext cx="3474720" cy="2103120"/>
          </a:xfrm>
          <a:prstGeom prst="roundRect">
            <a:avLst/>
          </a:prstGeom>
          <a:solidFill>
            <a:srgbClr val="0E1118"/>
          </a:solidFill>
          <a:ln w="19050">
            <a:solidFill>
              <a:srgbClr val="20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atalog_img_3_page_3_img_1_1245x1045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8264" y="3794759"/>
            <a:ext cx="3383280" cy="201168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398264" y="3794759"/>
            <a:ext cx="3383280" cy="2011680"/>
          </a:xfrm>
          <a:prstGeom prst="roundRect">
            <a:avLst/>
          </a:prstGeom>
          <a:solidFill>
            <a:srgbClr val="06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3931919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REDIAMANTAT MOLES</a:t>
            </a:r>
          </a:p>
          <a:p>
            <a:pPr>
              <a:spcBef>
                <a:spcPts val="400"/>
              </a:spcBef>
              <a:defRPr sz="1050">
                <a:solidFill>
                  <a:srgbClr val="F5F7FA"/>
                </a:solidFill>
                <a:latin typeface="Inter"/>
              </a:defRPr>
            </a:pPr>
            <a:r>
              <a:t>Restauració de moles de diamant.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65592" y="3749039"/>
            <a:ext cx="3474720" cy="2103120"/>
          </a:xfrm>
          <a:prstGeom prst="roundRect">
            <a:avLst/>
          </a:prstGeom>
          <a:solidFill>
            <a:srgbClr val="0E1118"/>
          </a:solidFill>
          <a:ln w="19050">
            <a:solidFill>
              <a:srgbClr val="20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atalog_img_15_page_5_img_1_567x784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1312" y="3794759"/>
            <a:ext cx="3383280" cy="201168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211312" y="3794759"/>
            <a:ext cx="3383280" cy="2011680"/>
          </a:xfrm>
          <a:prstGeom prst="roundRect">
            <a:avLst/>
          </a:prstGeom>
          <a:solidFill>
            <a:srgbClr val="06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2" y="3931919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CONSUMIBLES ABRASIUS</a:t>
            </a:r>
          </a:p>
          <a:p>
            <a:pPr>
              <a:spcBef>
                <a:spcPts val="400"/>
              </a:spcBef>
              <a:defRPr sz="1050">
                <a:solidFill>
                  <a:srgbClr val="F5F7FA"/>
                </a:solidFill>
                <a:latin typeface="Inter"/>
              </a:defRPr>
            </a:pPr>
            <a:r>
              <a:t>Bandes d'esmolat PRIMEdge.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20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ESMOTECH2026 SL  |  ESTIL CANVA BLACK — FOTOS DARRERE DEL 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C9A84C"/>
                </a:solidFill>
                <a:latin typeface="Barlow Condensed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5752" cy="4389120"/>
          </a:xfrm>
          <a:prstGeom prst="roundRect">
            <a:avLst/>
          </a:prstGeom>
          <a:solidFill>
            <a:srgbClr val="0E1118"/>
          </a:solidFill>
          <a:ln w="19050">
            <a:solidFill>
              <a:srgbClr val="20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esmo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645920"/>
            <a:ext cx="411480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3200400"/>
            <a:ext cx="85313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9A84C"/>
                </a:solidFill>
                <a:latin typeface="Barlow Condensed"/>
              </a:defRPr>
            </a:pPr>
            <a:r>
              <a:t>EL VOSTRE PARTNER TÈCNIC DE CONFIANÇA</a:t>
            </a:r>
          </a:p>
          <a:p>
            <a:pPr algn="ctr">
              <a:spcBef>
                <a:spcPts val="1600"/>
              </a:spcBef>
              <a:defRPr sz="1800" b="1">
                <a:solidFill>
                  <a:srgbClr val="C9A84C"/>
                </a:solidFill>
                <a:latin typeface="Barlow Condensed"/>
              </a:defRPr>
            </a:pPr>
            <a:r>
              <a:t>🌐  www.esmotech.com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217920"/>
            <a:ext cx="11091672" cy="18288"/>
          </a:xfrm>
          <a:prstGeom prst="rect">
            <a:avLst/>
          </a:prstGeom>
          <a:solidFill>
            <a:srgbClr val="20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ESMOTECH2026 SL  |  ESTIL CANVA BLACK — FOTOS DARRERE DEL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C9A84C"/>
                </a:solidFill>
                <a:latin typeface="Barlow Condensed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