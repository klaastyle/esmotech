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detallen els serveis d’afilat que ofereix l’empresa, amb èmfasi en les necessitats específiques del sector alimentari. Es fa èmfasi en la importància d’una eina tallant precisa per garantir l’eficiència i la seguretat, i s’explica com el servei pot ser personalitzat segons les demandes dels clients professionals.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Aquesta subapartat mostra els diferents tipus d’eines de tall que es venen, com ganivets, fulles especials i accessoris. També es posen en valor les innovacions tecnològiques aplicades als productes i com aquestes ajuden a millorar la productivitat i la seguretat dins de la indústria alimentària.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.jpg"/><Relationship Id="rId4" Type="http://schemas.openxmlformats.org/officeDocument/2006/relationships/image" Target="../media/image3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SYS-00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ESMOTECH2026 SL — DISSENY ESQUEMÀTIC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talog_img_1_page_1_img_1_1806x21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029200" cy="4297680"/>
          </a:xfrm>
          <a:prstGeom prst="rect">
            <a:avLst/>
          </a:prstGeom>
        </p:spPr>
      </p:pic>
      <p:pic>
        <p:nvPicPr>
          <p:cNvPr id="6" name="Picture 5" descr="logo-esmo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4114800" cy="1188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9A84C"/>
                </a:solidFill>
                <a:latin typeface="Barlow Condensed"/>
              </a:defRPr>
            </a:pPr>
            <a:r>
              <a:t>TECNOLOGIA · PRECISIÓ · QUALITAT</a:t>
            </a:r>
          </a:p>
          <a:p>
            <a:pPr>
              <a:spcBef>
                <a:spcPts val="800"/>
              </a:spcBef>
              <a:defRPr sz="1200">
                <a:solidFill>
                  <a:srgbClr val="8C9BAA"/>
                </a:solidFill>
                <a:latin typeface="Inter"/>
              </a:defRPr>
            </a:pPr>
            <a:r>
              <a:t>ESTIL 2: SLIDEMEMBERS SCHEMATIC MINIMAL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SYS-01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QUI SOM  ·  QUE FEM  ·  COM HO FEM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47472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// 01</a:t>
            </a:r>
          </a:p>
          <a:p>
            <a:pPr>
              <a:spcBef>
                <a:spcPts val="400"/>
              </a:spcBef>
              <a:defRPr sz="1800" b="1">
                <a:solidFill>
                  <a:srgbClr val="F5F7FA"/>
                </a:solidFill>
                <a:latin typeface="Barlow Condensed"/>
              </a:defRPr>
            </a:pPr>
            <a:r>
              <a:t>QUI SOM</a:t>
            </a:r>
          </a:p>
          <a:p>
            <a:pPr>
              <a:spcBef>
                <a:spcPts val="1000"/>
              </a:spcBef>
              <a:defRPr sz="1100">
                <a:solidFill>
                  <a:srgbClr val="8C9BAA"/>
                </a:solidFill>
                <a:latin typeface="Inter"/>
              </a:defRPr>
            </a:pPr>
            <a:r>
              <a:t>Empresa de nova creació amb una dilatada experiència en el sector alimentari, la qual cosa ens permet ser una garantia per als nostres clients.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2544" y="1371600"/>
            <a:ext cx="347472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5544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// 02</a:t>
            </a:r>
          </a:p>
          <a:p>
            <a:pPr>
              <a:spcBef>
                <a:spcPts val="400"/>
              </a:spcBef>
              <a:defRPr sz="1800" b="1">
                <a:solidFill>
                  <a:srgbClr val="F5F7FA"/>
                </a:solidFill>
                <a:latin typeface="Barlow Condensed"/>
              </a:defRPr>
            </a:pPr>
            <a:r>
              <a:t>QUÈ FEM</a:t>
            </a:r>
          </a:p>
          <a:p>
            <a:pPr>
              <a:spcBef>
                <a:spcPts val="1000"/>
              </a:spcBef>
              <a:defRPr sz="1100">
                <a:solidFill>
                  <a:srgbClr val="8C9BAA"/>
                </a:solidFill>
                <a:latin typeface="Inter"/>
              </a:defRPr>
            </a:pPr>
            <a:r>
              <a:t>Oferim un servei tècnic especialitzat i el subministrament d'eines de tall industrials de màxim rendiment.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65592" y="1371600"/>
            <a:ext cx="347472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155448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// 03</a:t>
            </a:r>
          </a:p>
          <a:p>
            <a:pPr>
              <a:spcBef>
                <a:spcPts val="400"/>
              </a:spcBef>
              <a:defRPr sz="1800" b="1">
                <a:solidFill>
                  <a:srgbClr val="F5F7FA"/>
                </a:solidFill>
                <a:latin typeface="Barlow Condensed"/>
              </a:defRPr>
            </a:pPr>
            <a:r>
              <a:t>COM HO FEM</a:t>
            </a:r>
          </a:p>
          <a:p>
            <a:pPr>
              <a:spcBef>
                <a:spcPts val="1000"/>
              </a:spcBef>
              <a:defRPr sz="1100">
                <a:solidFill>
                  <a:srgbClr val="8C9BAA"/>
                </a:solidFill>
                <a:latin typeface="Inter"/>
              </a:defRPr>
            </a:pPr>
            <a:r>
              <a:t>Garantim la qualitat de materials i angles de tall originals per evitar temps d'aturada.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1_page_1_img_1_1806x215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"/>
            <a:ext cx="5669280" cy="5669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365760"/>
            <a:ext cx="5669280" cy="5669280"/>
          </a:xfrm>
          <a:prstGeom prst="rect">
            <a:avLst/>
          </a:prstGeom>
          <a:solidFill>
            <a:srgbClr val="0A0C10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MOD-01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SERVEIS D'ESMOLATS ESPECIALITZATS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12064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SERVEIS D'ESMOLATS ESPECIALITZATS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Oferim serveis d'esmolat pensats per donar resposta a les necessitats tècniques del sector alimentari, assegurant precisió i rendiment.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IMPORTÀNCIA DE LA PRECISIÓ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Una eina ben esmolada és essencial per garantir eficiència, seguretat i regularitat en totes les operacions de tall.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PERSONALITZACIÓ DEL SERVEI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Adaptem els nostres esmolats a les necessitats específiques de cada client, optimitzant durabilitat i producció.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2_page_2_img_1_1245x104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"/>
            <a:ext cx="5669280" cy="5669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365760"/>
            <a:ext cx="5669280" cy="5669280"/>
          </a:xfrm>
          <a:prstGeom prst="rect">
            <a:avLst/>
          </a:prstGeom>
          <a:solidFill>
            <a:srgbClr val="0A0C10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MOD-02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ESMOLEM I RECTIFIQUEM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12064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GANIVETS I TISORES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Reafilat homogeni de ganiveteria manual i tisores de processat.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PLAQUES I CUTTERS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Rectificat de plaques de picadora i ganivetes de cutter en acer D2.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LLESCADORES I SERRES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Esmolat d'alta precisió per a llescadores slicer i discs circulars.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14_page_5_img_1_1230x8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"/>
            <a:ext cx="5669280" cy="5669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365760"/>
            <a:ext cx="5669280" cy="5669280"/>
          </a:xfrm>
          <a:prstGeom prst="rect">
            <a:avLst/>
          </a:prstGeom>
          <a:solidFill>
            <a:srgbClr val="0A0C10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MOD-03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GAMMA DE PRODUCTES DE TALL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12064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TIPUS D'EINES DE TALL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Ganivetes i accessoris dissenyats per cobrir totes les necessitats de tall alimentari.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INNOVACIONS TECNOLÒGIQUES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Tecnologia aplicada per augmentar la productivitat de la línia i seguretat.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MILLORA DE PRODUCTIVITAT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Solucions que redueixen riscos en la manipulació i aporten tall silenciós.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1_page_1_img_1_1217x117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"/>
            <a:ext cx="5669280" cy="5669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365760"/>
            <a:ext cx="5669280" cy="5669280"/>
          </a:xfrm>
          <a:prstGeom prst="rect">
            <a:avLst/>
          </a:prstGeom>
          <a:solidFill>
            <a:srgbClr val="0A0C10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MOD-04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PRODUCCIÓ I SUBMINISTRAMENT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12064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SERRA CINTA I SKINNING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Subministrament de fulles de serra cinta i ganivetes descotnar.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DISCS I CULANES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Discs circulars, microdentats i eines especials d'envasat.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FABRICACIÓ SEGONS PLÀNOL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Podem fabricar segons plànol CAD o mostra física del client.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SYS-07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TECNOLOGIA I INSTAL·LACIONS DEL CENTRE D'ESMOLAT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47472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ex_s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29184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9319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EQUIPAMENT TALLER 01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Cicles automatitzats de reafilat d'eines que mantenen els angles exactes de fàbrica.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2544" y="1371600"/>
            <a:ext cx="347472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mp_ex_s7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463040"/>
            <a:ext cx="329184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89704" y="39319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EQUIPAMENT TALLER 02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Cicles automatitzats de reafilat d'eines que mantenen els angles exactes de fàbrica.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5592" y="1371600"/>
            <a:ext cx="347472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emp_ex_s7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463040"/>
            <a:ext cx="3291840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02752" y="39319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9A84C"/>
                </a:solidFill>
                <a:latin typeface="Barlow Condensed"/>
              </a:defRPr>
            </a:pPr>
            <a:r>
              <a:t>EQUIPAMENT TALLER 03</a:t>
            </a:r>
          </a:p>
          <a:p>
            <a:pPr>
              <a:spcBef>
                <a:spcPts val="400"/>
              </a:spcBef>
              <a:defRPr sz="1050">
                <a:solidFill>
                  <a:srgbClr val="F5F7FA"/>
                </a:solidFill>
                <a:latin typeface="Inter"/>
              </a:defRPr>
            </a:pPr>
            <a:r>
              <a:t>Cicles automatitzats de reafilat d'eines que mantenen els angles exactes de fàbrica.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SYS-08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DISTRIBUIDOR OFICIAL: HAGEDORN FOODTECH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talog_img_4_page_3_img_2_1245x9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"/>
            <a:ext cx="5669280" cy="5669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43600" y="365760"/>
            <a:ext cx="5669280" cy="5669280"/>
          </a:xfrm>
          <a:prstGeom prst="rect">
            <a:avLst/>
          </a:prstGeom>
          <a:solidFill>
            <a:srgbClr val="0A0C10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HAG-01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HAGEDORN FOODTECH — PARTNER OFICIAL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120640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HAGEDORN FOODTECH GERMANY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Especialista líder en eines de tall per a la indústria alimentària.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TECNOLÓGIA DE DURESAT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Ganivetes circulars i evolutives amb durabilitat extrema.</a:t>
            </a:r>
          </a:p>
          <a:p>
            <a:pPr>
              <a:spcBef>
                <a:spcPts val="1400"/>
              </a:spcBef>
              <a:defRPr sz="1500" b="1">
                <a:solidFill>
                  <a:srgbClr val="C9A84C"/>
                </a:solidFill>
                <a:latin typeface="Barlow Condensed"/>
              </a:defRPr>
            </a:pPr>
            <a:r>
              <a:t>▶  MADE IN GERMANY</a:t>
            </a:r>
          </a:p>
          <a:p>
            <a:pPr>
              <a:spcBef>
                <a:spcPts val="400"/>
              </a:spcBef>
              <a:defRPr sz="1100">
                <a:solidFill>
                  <a:srgbClr val="F5F7FA"/>
                </a:solidFill>
                <a:latin typeface="Inter"/>
              </a:defRPr>
            </a:pPr>
            <a:r>
              <a:t>TRITECH / LONGLIFE / GENESIS per a slicers industrials.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011680" cy="274320"/>
          </a:xfrm>
          <a:prstGeom prst="rect">
            <a:avLst/>
          </a:prstGeom>
          <a:solidFill>
            <a:srgbClr val="0F141C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C9A84C"/>
                </a:solidFill>
                <a:latin typeface="Barlow Condensed"/>
              </a:defRPr>
            </a:pPr>
            <a:r>
              <a:t>SCHEMATIC // SYS-09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5F7FA"/>
                </a:solidFill>
                <a:latin typeface="Barlow Condensed"/>
              </a:defRPr>
            </a:pPr>
            <a:r>
              <a:t>ALTRES PRODUCTES I CONSUMIBLES DE TALL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210312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_1_img_1_1288x8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1554480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CAPÇALS TÈRMICS</a:t>
            </a:r>
          </a:p>
          <a:p>
            <a:pPr>
              <a:spcBef>
                <a:spcPts val="400"/>
              </a:spcBef>
              <a:defRPr sz="1000">
                <a:solidFill>
                  <a:srgbClr val="F5F7FA"/>
                </a:solidFill>
                <a:latin typeface="Inter"/>
              </a:defRPr>
            </a:pPr>
            <a:r>
              <a:t>Capçals Bizerba, Zebra i Honeywell.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52544" y="1463040"/>
            <a:ext cx="3474720" cy="210312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atalog_img_14_page_5_img_1_1230x84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554480"/>
            <a:ext cx="1097280" cy="1920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2704" y="1554480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SERRES CINTA</a:t>
            </a:r>
          </a:p>
          <a:p>
            <a:pPr>
              <a:spcBef>
                <a:spcPts val="400"/>
              </a:spcBef>
              <a:defRPr sz="1000">
                <a:solidFill>
                  <a:srgbClr val="F5F7FA"/>
                </a:solidFill>
                <a:latin typeface="Inter"/>
              </a:defRPr>
            </a:pPr>
            <a:r>
              <a:t>Fulles serra cinta carn i 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65592" y="1463040"/>
            <a:ext cx="3474720" cy="210312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atalog_img_2_page_2_img_1_1245x104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1554480"/>
            <a:ext cx="109728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45752" y="1554480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RECANVIS WIZZARD</a:t>
            </a:r>
          </a:p>
          <a:p>
            <a:pPr>
              <a:spcBef>
                <a:spcPts val="400"/>
              </a:spcBef>
              <a:defRPr sz="1000">
                <a:solidFill>
                  <a:srgbClr val="F5F7FA"/>
                </a:solidFill>
                <a:latin typeface="Inter"/>
              </a:defRPr>
            </a:pPr>
            <a:r>
              <a:t>Consumibles Wizzard i Ibex.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3474720" cy="210312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atalog_img_13_page_2_img_8_507x366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40479"/>
            <a:ext cx="1097280" cy="1920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28800" y="3840479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GANIVETES TERMOFORMAT</a:t>
            </a:r>
          </a:p>
          <a:p>
            <a:pPr>
              <a:spcBef>
                <a:spcPts val="400"/>
              </a:spcBef>
              <a:defRPr sz="1000">
                <a:solidFill>
                  <a:srgbClr val="F5F7FA"/>
                </a:solidFill>
                <a:latin typeface="Inter"/>
              </a:defRPr>
            </a:pPr>
            <a:r>
              <a:t>Dissenys Zhaoli i Multivac.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52544" y="3749039"/>
            <a:ext cx="3474720" cy="210312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talog_img_3_page_3_img_1_1245x1045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3840479"/>
            <a:ext cx="1097280" cy="1920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32704" y="3840479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REDIAMANTAT MOLES</a:t>
            </a:r>
          </a:p>
          <a:p>
            <a:pPr>
              <a:spcBef>
                <a:spcPts val="400"/>
              </a:spcBef>
              <a:defRPr sz="1000">
                <a:solidFill>
                  <a:srgbClr val="F5F7FA"/>
                </a:solidFill>
                <a:latin typeface="Inter"/>
              </a:defRPr>
            </a:pPr>
            <a:r>
              <a:t>Restauració de moles de diamant.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65592" y="3749039"/>
            <a:ext cx="3474720" cy="210312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atalog_img_15_page_5_img_1_567x784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7032" y="3840479"/>
            <a:ext cx="1097280" cy="1920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45752" y="3840479"/>
            <a:ext cx="2103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Barlow Condensed"/>
              </a:defRPr>
            </a:pPr>
            <a:r>
              <a:t>CONSUMIBLES ABRASIUS</a:t>
            </a:r>
          </a:p>
          <a:p>
            <a:pPr>
              <a:spcBef>
                <a:spcPts val="400"/>
              </a:spcBef>
              <a:defRPr sz="1000">
                <a:solidFill>
                  <a:srgbClr val="F5F7FA"/>
                </a:solidFill>
                <a:latin typeface="Inter"/>
              </a:defRPr>
            </a:pPr>
            <a:r>
              <a:t>Bandes d'esmolat PRIMEdge.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11091672" cy="4663440"/>
          </a:xfrm>
          <a:prstGeom prst="rect">
            <a:avLst/>
          </a:prstGeom>
          <a:solidFill>
            <a:srgbClr val="0C0F14"/>
          </a:solidFill>
          <a:ln w="1905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esmo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011680"/>
            <a:ext cx="411480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0" y="3474720"/>
            <a:ext cx="8531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C9A84C"/>
                </a:solidFill>
                <a:latin typeface="Barlow Condensed"/>
              </a:defRPr>
            </a:pPr>
            <a:r>
              <a:t>EL VOSTRE PARTNER TÈCNIC DE CONFIANÇA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C9A84C"/>
                </a:solidFill>
                <a:latin typeface="Barlow Condensed"/>
              </a:defRPr>
            </a:pPr>
            <a:r>
              <a:t>🌐  www.esmotech.com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217920"/>
            <a:ext cx="11091672" cy="9144"/>
          </a:xfrm>
          <a:prstGeom prst="rect">
            <a:avLst/>
          </a:prstGeom>
          <a:solidFill>
            <a:srgbClr val="2D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8C9BAA"/>
                </a:solidFill>
                <a:latin typeface="Inter"/>
              </a:defRPr>
            </a:pPr>
            <a:r>
              <a:t>ESMOTECH  |  ESTIL SLIDEMEMBERS SCHEMATIC — LAYOUT ESQUEMÀTIC 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6400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C9A84C"/>
                </a:solidFill>
                <a:latin typeface="Barlow Condensed"/>
              </a:defRPr>
            </a:pPr>
            <a:r>
              <a:t>SYS-10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